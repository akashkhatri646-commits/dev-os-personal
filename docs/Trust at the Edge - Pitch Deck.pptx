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3" r:id="rId12"/>
    <p:sldId id="260" r:id="rId9"/>
    <p:sldId id="261" r:id="rId10"/>
    <p:sldId id="264" r:id="rId13"/>
    <p:sldId id="267" r:id="rId32"/>
    <p:sldId id="262" r:id="rId11"/>
    <p:sldId id="265" r:id="rId14"/>
    <p:sldId id="266" r:id="rId15"/>
  </p:sldIdLst>
  <p:sldSz cy="8229600" cx="14630400"/>
  <p:notesSz cx="8229600" cy="14630400"/>
  <p:embeddedFontLst>
    <p:embeddedFont>
      <p:font typeface="Funnel Sans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Barlow"/>
      <p:regular r:id="rId24"/>
      <p:bold r:id="rId25"/>
      <p:italic r:id="rId26"/>
      <p:boldItalic r:id="rId27"/>
    </p:embeddedFont>
    <p:embeddedFont>
      <p:font typeface="Mona Sa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font" Target="fonts/FunnelSans-regular.fntdata"/><Relationship Id="rId17" Type="http://schemas.openxmlformats.org/officeDocument/2006/relationships/font" Target="fonts/FunnelSans-bold.fntdata"/><Relationship Id="rId18" Type="http://schemas.openxmlformats.org/officeDocument/2006/relationships/font" Target="fonts/FunnelSans-italic.fntdata"/><Relationship Id="rId19" Type="http://schemas.openxmlformats.org/officeDocument/2006/relationships/font" Target="fonts/FunnelSans-boldItalic.fntdata"/><Relationship Id="rId20" Type="http://schemas.openxmlformats.org/officeDocument/2006/relationships/font" Target="fonts/Montserrat-regular.fntdata"/><Relationship Id="rId21" Type="http://schemas.openxmlformats.org/officeDocument/2006/relationships/font" Target="fonts/Montserrat-bold.fntdata"/><Relationship Id="rId22" Type="http://schemas.openxmlformats.org/officeDocument/2006/relationships/font" Target="fonts/Montserrat-italic.fntdata"/><Relationship Id="rId23" Type="http://schemas.openxmlformats.org/officeDocument/2006/relationships/font" Target="fonts/Montserrat-boldItalic.fntdata"/><Relationship Id="rId24" Type="http://schemas.openxmlformats.org/officeDocument/2006/relationships/font" Target="fonts/Barlow-regular.fntdata"/><Relationship Id="rId25" Type="http://schemas.openxmlformats.org/officeDocument/2006/relationships/font" Target="fonts/Barlow-bold.fntdata"/><Relationship Id="rId26" Type="http://schemas.openxmlformats.org/officeDocument/2006/relationships/font" Target="fonts/Barlow-italic.fntdata"/><Relationship Id="rId27" Type="http://schemas.openxmlformats.org/officeDocument/2006/relationships/font" Target="fonts/Barlow-boldItalic.fntdata"/><Relationship Id="rId28" Type="http://schemas.openxmlformats.org/officeDocument/2006/relationships/font" Target="fonts/MonaSansSemiBold-regular.fntdata"/><Relationship Id="rId29" Type="http://schemas.openxmlformats.org/officeDocument/2006/relationships/font" Target="fonts/MonaSansSemiBold-bold.fntdata"/><Relationship Id="rId30" Type="http://schemas.openxmlformats.org/officeDocument/2006/relationships/font" Target="fonts/MonaSansSemiBold-italic.fntdata"/><Relationship Id="rId31" Type="http://schemas.openxmlformats.org/officeDocument/2006/relationships/font" Target="fonts/MonaSansSemiBold-boldItalic.fntdata"/><Relationship Id="rId32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One line: software reads and codes the document; a rule-based router decides whether it needs a person; evaluation evidence decides when it may act alone. The pilot runs on synthetic data only.</a:t>
            </a:r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Source: PRD, Problem Definition. The gap is confidence: neither manual review nor rule-based extraction can say how much to trust a record, so organisations either over-trust automation (patient-safety risk) or under-trust it (cost never falls). Buyer: the platform. Beneficiary: every downstream clinician and patient.</a:t>
            </a:r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Source: PRD, Why is this problem worth solving. ABHA and NHCX figures are as stated in the PRD (May 2026). The competitor statement is the PRD's positioning: agentic AI inside a single EHR's walls versus ingestion at the edge across institutions and consent regimes. Market size (TAM/SAM) is not yet sized in the PRD and is deliberately not quoted.</a:t>
            </a:r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Eight components in one pipeline: ingestion and normalisation, consent gate, grounded extraction, mapping and validation, confidence scoring, threshold routing, review queue, commit with provenance. The model reads and suggests; scoring, routing and committing are plain code. Pilot caveat: terminology in the pilot is a small sample set; licensed SNOMED CT, LOINC and ICD-10 are required before real use.</a:t>
            </a:r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Follows the live demo script: upload, record with citations and scores, review, evaluation tab, enable auto-commit, auto-committed record and audit trail.</a:t>
            </a:r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Run the live demo here. Fallback: screenshots of a good run (record in review, evaluation tab, auto-committed record and audit trail).</a:t>
            </a:r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Pricing, market size and revenue scenarios are blank in the PRD, so no price points are quoted: the model is a hypothesis to validate with design partners. The pilot cost figure is the model cost observed on one-page synthetic discharge summaries (about $0.0015 to $0.0031 each); it excludes hosting and reviewer time. Go-to-market and metrics follow the PRD target market and metric definitions.</a:t>
            </a:r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Source: PRD, moat statement: ingestion accuracy compounding into falling cost per integration. A general chat model can extract a field from pasted text but has no confidence discipline, persistent audit trail or consent-aware routing. The calibration loop that retunes thresholds from corrections is on the roadmap (PRD US-009); today corrections feed the evaluation.</a:t>
            </a:r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Evaluation is built into the product: reviewer decisions are the answer key, so evidence accumulates from normal work. Accuracy is judged by a one-sided 95% lower bound, so small samples cannot pass by luck. The audit holdback is the one unbiased measure of what auto-commit does. Clinician-labelled and public benchmark sets (PRD) are planned, not yet used.</a:t>
            </a:r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ea791ead5_2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eea791ead5_2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Roadmap and durations are from the PRD; status reflects the pilot as built. Real patient data stays out of scope until licensed terminology, real consent integration, scanned-document reading, a clinical decision on allergy handling and a safety review are in place.</a:t>
            </a:r>
          </a:p>
        </p:txBody>
      </p:sp>
      <p:sp>
        <p:nvSpPr>
          <p:cNvPr id="198" name="Google Shape;198;g3eea791ead5_2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Presenter and contact details can be added here.</a:t>
            </a:r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the default settings and are configurable. They follow the PRD targets: at least 99% field accuracy on auto-committed fields, mapping accuracy above 95%, and 100% grounding. For the demo the evidence minimums and accuracy targets are lowered and labelled as such; the pass is always recorded as synthetic or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Relationship Id="rId5" Type="http://schemas.openxmlformats.org/officeDocument/2006/relationships/image" Target="../media/image45.png"/><Relationship Id="rId6" Type="http://schemas.openxmlformats.org/officeDocument/2006/relationships/image" Target="../media/image17.png"/><Relationship Id="rId7" Type="http://schemas.openxmlformats.org/officeDocument/2006/relationships/image" Target="../media/image25.png"/><Relationship Id="rId8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4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49.png"/><Relationship Id="rId7" Type="http://schemas.openxmlformats.org/officeDocument/2006/relationships/image" Target="../media/image30.png"/><Relationship Id="rId8" Type="http://schemas.openxmlformats.org/officeDocument/2006/relationships/image" Target="../media/image48.png"/><Relationship Id="rId9" Type="http://schemas.openxmlformats.org/officeDocument/2006/relationships/image" Target="../media/image32.png"/><Relationship Id="rId10" Type="http://schemas.openxmlformats.org/officeDocument/2006/relationships/image" Target="../media/image4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png"/><Relationship Id="rId4" Type="http://schemas.openxmlformats.org/officeDocument/2006/relationships/image" Target="../media/image52.png"/><Relationship Id="rId5" Type="http://schemas.openxmlformats.org/officeDocument/2006/relationships/image" Target="../media/image36.png"/><Relationship Id="rId6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png"/><Relationship Id="rId4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3.png"/><Relationship Id="rId4" Type="http://schemas.openxmlformats.org/officeDocument/2006/relationships/image" Target="../media/image40.png"/><Relationship Id="rId5" Type="http://schemas.openxmlformats.org/officeDocument/2006/relationships/image" Target="../media/image51.png"/><Relationship Id="rId6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Relationship Id="rId4" Type="http://schemas.openxmlformats.org/officeDocument/2006/relationships/image" Target="../media/image38.png"/><Relationship Id="rId5" Type="http://schemas.openxmlformats.org/officeDocument/2006/relationships/image" Target="../media/image5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Relationship Id="rId4" Type="http://schemas.openxmlformats.org/officeDocument/2006/relationships/hyperlink" Target="mailto:info@example.com" TargetMode="External"/><Relationship Id="rId5" Type="http://schemas.openxmlformats.org/officeDocument/2006/relationships/hyperlink" Target="mailto:info@example.com" TargetMode="External"/><Relationship Id="rId6" Type="http://schemas.openxmlformats.org/officeDocument/2006/relationships/hyperlink" Target="https://www.examp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44709" y="2295882"/>
            <a:ext cx="6570107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Trust at the Edge</a:t>
            </a:r>
            <a:endParaRPr b="0" i="0" sz="445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6244700" y="3333503"/>
            <a:ext cx="76275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Agentic ingestion for unstructured health records.</a:t>
            </a:r>
            <a:endParaRPr b="0" i="0" sz="1700" u="none" cap="none" strike="noStrike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Converts scans, faxes and non-standard feeds into consented, grounded, validated FHIR data, and commits automatically only when the evidence says it is safe to.</a:t>
            </a:r>
            <a:endParaRPr b="0" i="0" sz="170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6244709" y="5760720"/>
            <a:ext cx="76275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A working pilot, demonstrated on synthetic records.</a:t>
            </a:r>
            <a:endParaRPr b="0" i="0" sz="1700" u="none" cap="none" strike="noStrike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758309" y="1717715"/>
            <a:ext cx="5701546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The Problem</a:t>
            </a:r>
            <a:endParaRPr b="0" i="0" sz="445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758309" y="2999065"/>
            <a:ext cx="487442" cy="487442"/>
          </a:xfrm>
          <a:prstGeom prst="roundRect">
            <a:avLst>
              <a:gd fmla="val 40004" name="adj"/>
            </a:avLst>
          </a:prstGeom>
          <a:solidFill>
            <a:srgbClr val="EEEFF5"/>
          </a:solidFill>
          <a:ln>
            <a:noFill/>
          </a:ln>
          <a:effectLst>
            <a:outerShdw blurRad="53340" rotWithShape="0" algn="bl" dir="13500000" dist="26670">
              <a:srgbClr val="FFFFFF">
                <a:alpha val="6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997" y="3029010"/>
            <a:ext cx="342067" cy="42755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1462326" y="2999065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What we solve</a:t>
            </a:r>
            <a:endParaRPr b="0" i="0" sz="220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1462325" y="3485200"/>
            <a:ext cx="30015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Messy provider records (scans, faxes, HL7v2) must become trustworthy FHIR data, quickly and cheaply, without risking patient safety or consent.</a:t>
            </a:r>
            <a:endParaRPr b="0" i="0" sz="170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4680347" y="2999065"/>
            <a:ext cx="487442" cy="487442"/>
          </a:xfrm>
          <a:prstGeom prst="roundRect">
            <a:avLst>
              <a:gd fmla="val 40004" name="adj"/>
            </a:avLst>
          </a:prstGeom>
          <a:solidFill>
            <a:srgbClr val="EEEFF5"/>
          </a:solidFill>
          <a:ln>
            <a:noFill/>
          </a:ln>
          <a:effectLst>
            <a:outerShdw blurRad="53340" rotWithShape="0" algn="bl" dir="13500000" dist="26670">
              <a:srgbClr val="FFFFFF">
                <a:alpha val="6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3035" y="3029010"/>
            <a:ext cx="342067" cy="42755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5384363" y="2999065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Why options fail</a:t>
            </a:r>
            <a:endParaRPr b="0" i="0" sz="220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5384363" y="3485198"/>
            <a:ext cx="3001447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Manual coding does not scale and drives the cost of each integration. Template rules break silently on new layouts. Neither says how confident to be.</a:t>
            </a:r>
            <a:endParaRPr b="0" i="0" sz="17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758309" y="5332333"/>
            <a:ext cx="487442" cy="487442"/>
          </a:xfrm>
          <a:prstGeom prst="roundRect">
            <a:avLst>
              <a:gd fmla="val 40004" name="adj"/>
            </a:avLst>
          </a:prstGeom>
          <a:solidFill>
            <a:srgbClr val="EEEFF5"/>
          </a:solidFill>
          <a:ln>
            <a:noFill/>
          </a:ln>
          <a:effectLst>
            <a:outerShdw blurRad="53340" rotWithShape="0" algn="bl" dir="13500000" dist="26670">
              <a:srgbClr val="FFFFFF">
                <a:alpha val="6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997" y="5362277"/>
            <a:ext cx="342067" cy="42755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>
            <a:off x="1462326" y="5332333"/>
            <a:ext cx="285071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Who it is for</a:t>
            </a:r>
            <a:endParaRPr b="0" i="0" sz="220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1462326" y="5818465"/>
            <a:ext cx="692336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Integration teams at health data platforms, whose growth is gated by the cost of onboarding each provider, and the data-operations reviewers who absorb the risk today. Primary market: India's ABDM ecosystem; US platforms under HIPAA are secondary.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758309" y="1588770"/>
            <a:ext cx="6566178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Why Now</a:t>
            </a:r>
            <a:endParaRPr b="0" i="0" sz="4450" u="none" cap="none" strike="noStrike"/>
          </a:p>
        </p:txBody>
      </p:sp>
      <p:pic>
        <p:nvPicPr>
          <p:cNvPr descr="preencoded.png" id="86" name="Google Shape;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4774" y="2734747"/>
            <a:ext cx="2163723" cy="1265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7" name="Google Shape;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4176" y="3334703"/>
            <a:ext cx="304681" cy="38076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5335072" y="2951321"/>
            <a:ext cx="5486400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Scale</a:t>
            </a:r>
            <a:endParaRPr b="0" i="0" sz="220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5335072" y="3437453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Over 900 million ABHA accounts issued by May 2026; the National Health Claims Exchange went live in 2025</a:t>
            </a:r>
            <a:endParaRPr b="0" i="0" sz="170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5172551" y="4012525"/>
            <a:ext cx="8645485" cy="15240"/>
          </a:xfrm>
          <a:prstGeom prst="roundRect">
            <a:avLst>
              <a:gd fmla="val 1279500" name="adj"/>
            </a:avLst>
          </a:prstGeom>
          <a:solidFill>
            <a:srgbClr val="C1C3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72972" y="4054793"/>
            <a:ext cx="4327446" cy="1265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84295" y="4497348"/>
            <a:ext cx="304681" cy="38076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/>
          <p:nvPr/>
        </p:nvSpPr>
        <p:spPr>
          <a:xfrm>
            <a:off x="6416993" y="4271367"/>
            <a:ext cx="5486400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Reality of the data</a:t>
            </a:r>
            <a:endParaRPr b="0" i="0" sz="220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6416993" y="4757499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Most providers are not ABDM-compliant, so scans, faxes and non-standard feeds will keep arriving</a:t>
            </a:r>
            <a:endParaRPr b="0" i="0" sz="1700" u="none" cap="none" strike="noStrike"/>
          </a:p>
        </p:txBody>
      </p:sp>
      <p:sp>
        <p:nvSpPr>
          <p:cNvPr id="95" name="Google Shape;95;p15"/>
          <p:cNvSpPr/>
          <p:nvPr/>
        </p:nvSpPr>
        <p:spPr>
          <a:xfrm>
            <a:off x="6254472" y="5332571"/>
            <a:ext cx="7563564" cy="15240"/>
          </a:xfrm>
          <a:prstGeom prst="roundRect">
            <a:avLst>
              <a:gd fmla="val 1279500" name="adj"/>
            </a:avLst>
          </a:prstGeom>
          <a:solidFill>
            <a:srgbClr val="C1C3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051" y="5374838"/>
            <a:ext cx="6491288" cy="1265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84295" y="5817394"/>
            <a:ext cx="304681" cy="38076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7498913" y="5591413"/>
            <a:ext cx="5486400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Gap in the market</a:t>
            </a:r>
            <a:endParaRPr b="0" i="0" sz="2200" u="none" cap="none" strike="noStrike"/>
          </a:p>
        </p:txBody>
      </p:sp>
      <p:sp>
        <p:nvSpPr>
          <p:cNvPr id="99" name="Google Shape;99;p15"/>
          <p:cNvSpPr/>
          <p:nvPr/>
        </p:nvSpPr>
        <p:spPr>
          <a:xfrm>
            <a:off x="7498913" y="6077545"/>
            <a:ext cx="6217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Epic, Dragon Copilot and UiPath build on structured data inside one EHR; none targets cross-institution ingestion at the edge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>
            <a:off x="758309" y="1246942"/>
            <a:ext cx="5701546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Our Solution</a:t>
            </a:r>
            <a:endParaRPr b="0" i="0" sz="445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758952" y="2955965"/>
            <a:ext cx="394106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Grounded extraction</a:t>
            </a:r>
            <a:endParaRPr b="0" i="0" sz="2200" u="none" cap="none" strike="noStrike"/>
          </a:p>
        </p:txBody>
      </p:sp>
      <p:sp>
        <p:nvSpPr>
          <p:cNvPr id="107" name="Google Shape;107;p16"/>
          <p:cNvSpPr/>
          <p:nvPr/>
        </p:nvSpPr>
        <p:spPr>
          <a:xfrm>
            <a:off x="758309" y="3442097"/>
            <a:ext cx="3937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Every value quotes the sentence it came from. If it cannot be quoted, it is not written.</a:t>
            </a:r>
            <a:endParaRPr b="0" i="0" sz="1700" u="none" cap="none" strike="noStrike"/>
          </a:p>
        </p:txBody>
      </p:sp>
      <p:pic>
        <p:nvPicPr>
          <p:cNvPr descr="preencoded.png"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0270" y="2392918"/>
            <a:ext cx="4589740" cy="458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" name="Google Shape;1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9290" y="3170813"/>
            <a:ext cx="324088" cy="4051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9934932" y="2955965"/>
            <a:ext cx="394106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Standards-ready output</a:t>
            </a:r>
            <a:endParaRPr b="0" i="0" sz="2200" u="none" cap="none" strike="noStrike"/>
          </a:p>
        </p:txBody>
      </p:sp>
      <p:sp>
        <p:nvSpPr>
          <p:cNvPr id="111" name="Google Shape;111;p16"/>
          <p:cNvSpPr/>
          <p:nvPr/>
        </p:nvSpPr>
        <p:spPr>
          <a:xfrm>
            <a:off x="9934932" y="3442097"/>
            <a:ext cx="3937159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Schema-valid FHIR R4, coded to SNOMED CT, LOINC and ICD-10, and validated before any commit.</a:t>
            </a:r>
            <a:endParaRPr b="0" i="0" sz="1700" u="none" cap="none" strike="noStrike"/>
          </a:p>
        </p:txBody>
      </p:sp>
      <p:pic>
        <p:nvPicPr>
          <p:cNvPr descr="preencoded.png" id="112" name="Google Shape;11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0270" y="2392918"/>
            <a:ext cx="4589740" cy="458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67308" y="3561457"/>
            <a:ext cx="324088" cy="40517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/>
          <p:nvPr/>
        </p:nvSpPr>
        <p:spPr>
          <a:xfrm>
            <a:off x="9934932" y="5239941"/>
            <a:ext cx="394106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Consent-gated routing</a:t>
            </a:r>
            <a:endParaRPr b="0" i="0" sz="2200" u="none" cap="none" strike="noStrike"/>
          </a:p>
        </p:txBody>
      </p:sp>
      <p:sp>
        <p:nvSpPr>
          <p:cNvPr id="115" name="Google Shape;115;p16"/>
          <p:cNvSpPr/>
          <p:nvPr/>
        </p:nvSpPr>
        <p:spPr>
          <a:xfrm>
            <a:off x="9934932" y="5726073"/>
            <a:ext cx="3937159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Consent is checked before any reading. Scores and per-source thresholds decide: auto-commit or human review.</a:t>
            </a:r>
            <a:endParaRPr b="0" i="0" sz="1700" u="none" cap="none" strike="noStrike"/>
          </a:p>
        </p:txBody>
      </p:sp>
      <p:pic>
        <p:nvPicPr>
          <p:cNvPr descr="preencoded.png" id="116" name="Google Shape;11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0270" y="2392918"/>
            <a:ext cx="4589740" cy="458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7" name="Google Shape;11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76664" y="5799475"/>
            <a:ext cx="324088" cy="40517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758952" y="5413296"/>
            <a:ext cx="3941063" cy="35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Knows its limits</a:t>
            </a:r>
            <a:endParaRPr b="0" i="0" sz="2200" u="none" cap="none" strike="noStrike"/>
          </a:p>
        </p:txBody>
      </p:sp>
      <p:sp>
        <p:nvSpPr>
          <p:cNvPr id="119" name="Google Shape;119;p16"/>
          <p:cNvSpPr/>
          <p:nvPr/>
        </p:nvSpPr>
        <p:spPr>
          <a:xfrm>
            <a:off x="758309" y="5899428"/>
            <a:ext cx="3937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Confidence scores trigger a decision, and every decision can be reconstructed from the audit trail.</a:t>
            </a:r>
            <a:endParaRPr b="0" i="0" sz="1700" u="none" cap="none" strike="noStrike"/>
          </a:p>
        </p:txBody>
      </p:sp>
      <p:pic>
        <p:nvPicPr>
          <p:cNvPr descr="preencoded.png" id="120" name="Google Shape;12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20270" y="2392918"/>
            <a:ext cx="4589740" cy="458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38646" y="5408831"/>
            <a:ext cx="324088" cy="405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6244709" y="1176933"/>
            <a:ext cx="5701546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Product Demo</a:t>
            </a:r>
            <a:endParaRPr b="0" i="0" sz="4450" u="none" cap="none" strike="noStrike"/>
          </a:p>
        </p:txBody>
      </p:sp>
      <p:pic>
        <p:nvPicPr>
          <p:cNvPr descr="preencoded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4709" y="2214563"/>
            <a:ext cx="1083231" cy="161270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7652841" y="2431125"/>
            <a:ext cx="621792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Use Case 1 - </a:t>
            </a:r>
            <a:r>
              <a:rPr lang="en-US" sz="1850">
                <a:solidFill>
                  <a:srgbClr val="8F8F8F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Grounded extraction</a:t>
            </a:r>
            <a:endParaRPr b="0" i="0" sz="2200" u="none" cap="none" strike="noStrike"/>
          </a:p>
        </p:txBody>
      </p:sp>
      <p:sp>
        <p:nvSpPr>
          <p:cNvPr id="131" name="Google Shape;131;p17"/>
          <p:cNvSpPr/>
          <p:nvPr/>
        </p:nvSpPr>
        <p:spPr>
          <a:xfrm>
            <a:off x="7652861" y="2917269"/>
            <a:ext cx="621923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Upload a discharge summary. Every value cites its source, each resource is scored against its threshold, and the record is routed.</a:t>
            </a:r>
            <a:endParaRPr b="0" i="0" sz="1700" u="none" cap="none" strike="noStrike"/>
          </a:p>
        </p:txBody>
      </p:sp>
      <p:pic>
        <p:nvPicPr>
          <p:cNvPr descr="preencoded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4709" y="3827264"/>
            <a:ext cx="1083231" cy="161270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7652839" y="4043854"/>
            <a:ext cx="621792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Use Case 2 - </a:t>
            </a:r>
            <a:r>
              <a:rPr lang="en-US" sz="1850">
                <a:solidFill>
                  <a:srgbClr val="8F8F8F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Human review</a:t>
            </a:r>
            <a:endParaRPr b="0" i="0" sz="2200" u="none" cap="none" strike="noStrike"/>
          </a:p>
        </p:txBody>
      </p:sp>
      <p:sp>
        <p:nvSpPr>
          <p:cNvPr id="134" name="Google Shape;134;p17"/>
          <p:cNvSpPr/>
          <p:nvPr/>
        </p:nvSpPr>
        <p:spPr>
          <a:xfrm>
            <a:off x="7652861" y="4529971"/>
            <a:ext cx="621923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A reviewer accepts, corrects or rejects each field. Every decision becomes labelled evidence.</a:t>
            </a:r>
            <a:endParaRPr b="0" i="0" sz="1700" u="none" cap="none" strike="noStrike"/>
          </a:p>
        </p:txBody>
      </p:sp>
      <p:pic>
        <p:nvPicPr>
          <p:cNvPr descr="preencoded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4709" y="5439966"/>
            <a:ext cx="1083231" cy="161270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/>
          <p:nvPr/>
        </p:nvSpPr>
        <p:spPr>
          <a:xfrm>
            <a:off x="7652839" y="5656551"/>
            <a:ext cx="621792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Use Case 3 - </a:t>
            </a:r>
            <a:r>
              <a:rPr lang="en-US" sz="1850">
                <a:solidFill>
                  <a:srgbClr val="8F8F8F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Evaluation gate</a:t>
            </a:r>
            <a:endParaRPr b="0" i="0" sz="2200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7652861" y="6142673"/>
            <a:ext cx="621923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The source passes an evidence-based evaluation, auto-commit unlocks, and a record commits with its full audit trail.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/>
          <p:nvPr/>
        </p:nvSpPr>
        <p:spPr>
          <a:xfrm>
            <a:off x="758309" y="3758446"/>
            <a:ext cx="5766316" cy="712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Live Workflow Demo</a:t>
            </a:r>
            <a:endParaRPr b="0" i="0" sz="4450" u="none" cap="none" strike="noStrike"/>
          </a:p>
        </p:txBody>
      </p:sp>
      <p:sp>
        <p:nvSpPr>
          <p:cNvPr id="144" name="Google Shape;144;p18"/>
          <p:cNvSpPr txBox="1"/>
          <p:nvPr/>
        </p:nvSpPr>
        <p:spPr>
          <a:xfrm>
            <a:off x="852000" y="4471150"/>
            <a:ext cx="85239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8F8F8F"/>
                </a:solidFill>
                <a:latin typeface="Funnel Sans"/>
                <a:ea typeface="Funnel Sans"/>
                <a:cs typeface="Funnel Sans"/>
                <a:sym typeface="Funnel Sans"/>
              </a:rPr>
              <a:t>From upload to audited commit in about three minutes: grounded extraction, human review, the evaluation gate and automatic commit.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669012" y="677228"/>
            <a:ext cx="8229600" cy="62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3950"/>
              <a:buFont typeface="Barlow"/>
              <a:buNone/>
            </a:pPr>
            <a:r>
              <a:rPr b="1" i="0" lang="en-US" sz="39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Pricing and Go-to-Market</a:t>
            </a:r>
            <a:endParaRPr b="0" i="0" sz="3950" u="none" cap="none" strike="noStrike"/>
          </a:p>
        </p:txBody>
      </p:sp>
      <p:sp>
        <p:nvSpPr>
          <p:cNvPr id="152" name="Google Shape;152;p19"/>
          <p:cNvSpPr/>
          <p:nvPr/>
        </p:nvSpPr>
        <p:spPr>
          <a:xfrm>
            <a:off x="669012" y="1592699"/>
            <a:ext cx="7805976" cy="1423035"/>
          </a:xfrm>
          <a:prstGeom prst="roundRect">
            <a:avLst>
              <a:gd fmla="val 12091" name="adj"/>
            </a:avLst>
          </a:prstGeom>
          <a:solidFill>
            <a:srgbClr val="EEEFF5"/>
          </a:solidFill>
          <a:ln>
            <a:noFill/>
          </a:ln>
          <a:effectLst>
            <a:outerShdw blurRad="46990" rotWithShape="0" algn="bl" dir="13500000" dist="22860">
              <a:srgbClr val="FFFFFF">
                <a:alpha val="6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860108" y="1783794"/>
            <a:ext cx="6858000" cy="314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Revenue model</a:t>
            </a:r>
            <a:endParaRPr b="0" i="0" sz="1950" u="none" cap="none" strike="noStrike"/>
          </a:p>
        </p:txBody>
      </p:sp>
      <p:sp>
        <p:nvSpPr>
          <p:cNvPr id="154" name="Google Shape;154;p19"/>
          <p:cNvSpPr/>
          <p:nvPr/>
        </p:nvSpPr>
        <p:spPr>
          <a:xfrm>
            <a:off x="860108" y="2212896"/>
            <a:ext cx="742378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Proposed: B2B infrastructure, with the health data platform as buyer. Usage-based fees per successfully ingested record, plus a one-time onboarding fee per provider source.</a:t>
            </a:r>
            <a:endParaRPr b="0" i="0" sz="1500" u="none" cap="none" strike="noStrike"/>
          </a:p>
        </p:txBody>
      </p:sp>
      <p:sp>
        <p:nvSpPr>
          <p:cNvPr id="155" name="Google Shape;155;p19"/>
          <p:cNvSpPr/>
          <p:nvPr/>
        </p:nvSpPr>
        <p:spPr>
          <a:xfrm>
            <a:off x="669012" y="3206829"/>
            <a:ext cx="7805976" cy="1423035"/>
          </a:xfrm>
          <a:prstGeom prst="roundRect">
            <a:avLst>
              <a:gd fmla="val 12091" name="adj"/>
            </a:avLst>
          </a:prstGeom>
          <a:solidFill>
            <a:srgbClr val="EEEFF5"/>
          </a:solidFill>
          <a:ln>
            <a:noFill/>
          </a:ln>
          <a:effectLst>
            <a:outerShdw blurRad="46990" rotWithShape="0" algn="bl" dir="13500000" dist="22860">
              <a:srgbClr val="FFFFFF">
                <a:alpha val="6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860108" y="3397925"/>
            <a:ext cx="6858000" cy="314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Pricing principle</a:t>
            </a:r>
            <a:endParaRPr b="0" i="0" sz="1950" u="none" cap="none" strike="noStrike"/>
          </a:p>
        </p:txBody>
      </p:sp>
      <p:sp>
        <p:nvSpPr>
          <p:cNvPr id="157" name="Google Shape;157;p19"/>
          <p:cNvSpPr/>
          <p:nvPr/>
        </p:nvSpPr>
        <p:spPr>
          <a:xfrm>
            <a:off x="860108" y="3827026"/>
            <a:ext cx="742378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Directional: priced against cost per ingested record at a defined accuracy bar. Figures to be set after the accuracy benchmark. Pilot model cost: about $0.002 to $0.003 per one-page record.</a:t>
            </a:r>
            <a:endParaRPr b="0" i="0" sz="1500" u="none" cap="none" strike="noStrike"/>
          </a:p>
        </p:txBody>
      </p:sp>
      <p:sp>
        <p:nvSpPr>
          <p:cNvPr id="158" name="Google Shape;158;p19"/>
          <p:cNvSpPr/>
          <p:nvPr/>
        </p:nvSpPr>
        <p:spPr>
          <a:xfrm>
            <a:off x="669012" y="4820960"/>
            <a:ext cx="7805976" cy="1423035"/>
          </a:xfrm>
          <a:prstGeom prst="roundRect">
            <a:avLst>
              <a:gd fmla="val 12091" name="adj"/>
            </a:avLst>
          </a:prstGeom>
          <a:solidFill>
            <a:srgbClr val="EEEFF5"/>
          </a:solidFill>
          <a:ln>
            <a:noFill/>
          </a:ln>
          <a:effectLst>
            <a:outerShdw blurRad="46990" rotWithShape="0" algn="bl" dir="13500000" dist="22860">
              <a:srgbClr val="FFFFFF">
                <a:alpha val="6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860108" y="5012055"/>
            <a:ext cx="6858000" cy="314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Go-to-market</a:t>
            </a:r>
            <a:endParaRPr b="0" i="0" sz="1950" u="none" cap="none" strike="noStrike"/>
          </a:p>
        </p:txBody>
      </p:sp>
      <p:sp>
        <p:nvSpPr>
          <p:cNvPr id="160" name="Google Shape;160;p19"/>
          <p:cNvSpPr/>
          <p:nvPr/>
        </p:nvSpPr>
        <p:spPr>
          <a:xfrm>
            <a:off x="860108" y="5441156"/>
            <a:ext cx="742378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Land with integration teams at ABDM-ecosystem platforms (HIPs, HIUs, PHR apps) through design partners; onboard source by source, proving accuracy before auto-commit. US platforms follow.</a:t>
            </a:r>
            <a:endParaRPr b="0" i="0" sz="1500" u="none" cap="none" strike="noStrike"/>
          </a:p>
        </p:txBody>
      </p:sp>
      <p:sp>
        <p:nvSpPr>
          <p:cNvPr id="161" name="Google Shape;161;p19"/>
          <p:cNvSpPr/>
          <p:nvPr/>
        </p:nvSpPr>
        <p:spPr>
          <a:xfrm>
            <a:off x="669012" y="6435090"/>
            <a:ext cx="7805976" cy="1417320"/>
          </a:xfrm>
          <a:prstGeom prst="roundRect">
            <a:avLst>
              <a:gd fmla="val 15401" name="adj"/>
            </a:avLst>
          </a:prstGeom>
          <a:solidFill>
            <a:srgbClr val="EEEFF5"/>
          </a:solidFill>
          <a:ln>
            <a:noFill/>
          </a:ln>
          <a:effectLst>
            <a:outerShdw blurRad="46990" rotWithShape="0" algn="bl" dir="13500000" dist="22860">
              <a:srgbClr val="FFFFFF">
                <a:alpha val="6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860108" y="6626185"/>
            <a:ext cx="6858000" cy="314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Success metrics</a:t>
            </a:r>
            <a:endParaRPr b="0" i="0" sz="1950" u="none" cap="none" strike="noStrike"/>
          </a:p>
        </p:txBody>
      </p:sp>
      <p:sp>
        <p:nvSpPr>
          <p:cNvPr id="163" name="Google Shape;163;p19"/>
          <p:cNvSpPr/>
          <p:nvPr/>
        </p:nvSpPr>
        <p:spPr>
          <a:xfrm>
            <a:off x="860108" y="7055287"/>
            <a:ext cx="742378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North star: cost per record ingested at 99% accuracy. Also straight-through rate, accuracy on auto-commits, time to trust for a new source, escalation precision and downstream errors (target zero).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669012" y="677228"/>
            <a:ext cx="8229600" cy="62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3950"/>
              <a:buFont typeface="Barlow"/>
              <a:buNone/>
            </a:pPr>
            <a:r>
              <a:rPr b="1" i="0" lang="en-US" sz="39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The Bar for Auto-Commit</a:t>
            </a:r>
            <a:endParaRPr b="0" i="0" sz="3950" u="none" cap="none" strike="noStrike"/>
          </a:p>
        </p:txBody>
      </p:sp>
      <p:sp>
        <p:nvSpPr>
          <p:cNvPr id="152" name="Google Shape;152;p19"/>
          <p:cNvSpPr/>
          <p:nvPr/>
        </p:nvSpPr>
        <p:spPr>
          <a:xfrm>
            <a:off x="669012" y="1592699"/>
            <a:ext cx="7805976" cy="1423035"/>
          </a:xfrm>
          <a:prstGeom prst="roundRect">
            <a:avLst>
              <a:gd fmla="val 12091" name="adj"/>
            </a:avLst>
          </a:prstGeom>
          <a:solidFill>
            <a:srgbClr val="EEEFF5"/>
          </a:solidFill>
          <a:ln>
            <a:noFill/>
          </a:ln>
          <a:effectLst>
            <a:outerShdw blurRad="46990" rotWithShape="0" algn="bl" dir="13500000" dist="22860">
              <a:srgbClr val="FFFFFF">
                <a:alpha val="6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860108" y="1783794"/>
            <a:ext cx="6858000" cy="314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Enough evidence</a:t>
            </a:r>
            <a:endParaRPr b="0" i="0" sz="1950" u="none" cap="none" strike="noStrike"/>
          </a:p>
        </p:txBody>
      </p:sp>
      <p:sp>
        <p:nvSpPr>
          <p:cNvPr id="154" name="Google Shape;154;p19"/>
          <p:cNvSpPr/>
          <p:nvPr/>
        </p:nvSpPr>
        <p:spPr>
          <a:xfrm>
            <a:off x="860108" y="2212896"/>
            <a:ext cx="742378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At least 50 reviewed records and 300 reviewed fields. Below that the verdict is "not enough evidence", never a pass.</a:t>
            </a:r>
            <a:endParaRPr b="0" i="0" sz="1500" u="none" cap="none" strike="noStrike"/>
          </a:p>
        </p:txBody>
      </p:sp>
      <p:sp>
        <p:nvSpPr>
          <p:cNvPr id="155" name="Google Shape;155;p19"/>
          <p:cNvSpPr/>
          <p:nvPr/>
        </p:nvSpPr>
        <p:spPr>
          <a:xfrm>
            <a:off x="669012" y="3206829"/>
            <a:ext cx="7805976" cy="1423035"/>
          </a:xfrm>
          <a:prstGeom prst="roundRect">
            <a:avLst>
              <a:gd fmla="val 12091" name="adj"/>
            </a:avLst>
          </a:prstGeom>
          <a:solidFill>
            <a:srgbClr val="EEEFF5"/>
          </a:solidFill>
          <a:ln>
            <a:noFill/>
          </a:ln>
          <a:effectLst>
            <a:outerShdw blurRad="46990" rotWithShape="0" algn="bl" dir="13500000" dist="22860">
              <a:srgbClr val="FFFFFF">
                <a:alpha val="6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860108" y="3397925"/>
            <a:ext cx="6858000" cy="314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Conservative accuracy bar</a:t>
            </a:r>
            <a:endParaRPr b="0" i="0" sz="1950" u="none" cap="none" strike="noStrike"/>
          </a:p>
        </p:txBody>
      </p:sp>
      <p:sp>
        <p:nvSpPr>
          <p:cNvPr id="157" name="Google Shape;157;p19"/>
          <p:cNvSpPr/>
          <p:nvPr/>
        </p:nvSpPr>
        <p:spPr>
          <a:xfrm>
            <a:off x="860108" y="3827026"/>
            <a:ext cx="742378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99% on medication, allergy and lab fields and 97% on all others, using a 95% lower bound so a few perfect results cannot pass by luck.</a:t>
            </a:r>
            <a:endParaRPr b="0" i="0" sz="1500" u="none" cap="none" strike="noStrike"/>
          </a:p>
        </p:txBody>
      </p:sp>
      <p:sp>
        <p:nvSpPr>
          <p:cNvPr id="158" name="Google Shape;158;p19"/>
          <p:cNvSpPr/>
          <p:nvPr/>
        </p:nvSpPr>
        <p:spPr>
          <a:xfrm>
            <a:off x="669012" y="4820960"/>
            <a:ext cx="7805976" cy="1423035"/>
          </a:xfrm>
          <a:prstGeom prst="roundRect">
            <a:avLst>
              <a:gd fmla="val 12091" name="adj"/>
            </a:avLst>
          </a:prstGeom>
          <a:solidFill>
            <a:srgbClr val="EEEFF5"/>
          </a:solidFill>
          <a:ln>
            <a:noFill/>
          </a:ln>
          <a:effectLst>
            <a:outerShdw blurRad="46990" rotWithShape="0" algn="bl" dir="13500000" dist="22860">
              <a:srgbClr val="FFFFFF">
                <a:alpha val="6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860108" y="5012055"/>
            <a:ext cx="6858000" cy="314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Codes and grounding</a:t>
            </a:r>
            <a:endParaRPr b="0" i="0" sz="1950" u="none" cap="none" strike="noStrike"/>
          </a:p>
        </p:txBody>
      </p:sp>
      <p:sp>
        <p:nvSpPr>
          <p:cNvPr id="160" name="Google Shape;160;p19"/>
          <p:cNvSpPr/>
          <p:nvPr/>
        </p:nvSpPr>
        <p:spPr>
          <a:xfrm>
            <a:off x="860108" y="5441156"/>
            <a:ext cx="742378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Medical codes left unchanged at least 95% of the time, and no value that cannot be found in the source document.</a:t>
            </a:r>
            <a:endParaRPr b="0" i="0" sz="1500" u="none" cap="none" strike="noStrike"/>
          </a:p>
        </p:txBody>
      </p:sp>
      <p:sp>
        <p:nvSpPr>
          <p:cNvPr id="161" name="Google Shape;161;p19"/>
          <p:cNvSpPr/>
          <p:nvPr/>
        </p:nvSpPr>
        <p:spPr>
          <a:xfrm>
            <a:off x="669012" y="6435090"/>
            <a:ext cx="7805976" cy="1417320"/>
          </a:xfrm>
          <a:prstGeom prst="roundRect">
            <a:avLst>
              <a:gd fmla="val 15401" name="adj"/>
            </a:avLst>
          </a:prstGeom>
          <a:solidFill>
            <a:srgbClr val="EEEFF5"/>
          </a:solidFill>
          <a:ln>
            <a:noFill/>
          </a:ln>
          <a:effectLst>
            <a:outerShdw blurRad="46990" rotWithShape="0" algn="bl" dir="13500000" dist="22860">
              <a:srgbClr val="FFFFFF">
                <a:alpha val="6980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860108" y="6626185"/>
            <a:ext cx="6858000" cy="314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Barlow"/>
              <a:buNone/>
            </a:pPr>
            <a:r>
              <a:rPr b="1" i="0" lang="en-US" sz="195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Keeps proving itself</a:t>
            </a:r>
            <a:endParaRPr b="0" i="0" sz="1950" u="none" cap="none" strike="noStrike"/>
          </a:p>
        </p:txBody>
      </p:sp>
      <p:sp>
        <p:nvSpPr>
          <p:cNvPr id="163" name="Google Shape;163;p19"/>
          <p:cNvSpPr/>
          <p:nvPr/>
        </p:nvSpPr>
        <p:spPr>
          <a:xfrm>
            <a:off x="860108" y="7055287"/>
            <a:ext cx="742378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A pass resets if thresholds or the model change, and a random audit sample of clean records still goes to a reviewer.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52138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/>
          <p:nvPr/>
        </p:nvSpPr>
        <p:spPr>
          <a:xfrm>
            <a:off x="705922" y="3077051"/>
            <a:ext cx="7315200" cy="663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150"/>
              <a:buFont typeface="Barlow"/>
              <a:buNone/>
            </a:pPr>
            <a:r>
              <a:rPr b="1" i="0" lang="en-US" sz="41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Our Moat</a:t>
            </a:r>
            <a:endParaRPr b="0" i="0" sz="4150" u="none" cap="none" strike="noStrike"/>
          </a:p>
        </p:txBody>
      </p:sp>
      <p:pic>
        <p:nvPicPr>
          <p:cNvPr descr="preencoded.png"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922" y="4043124"/>
            <a:ext cx="1008578" cy="1210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/>
          <p:nvPr/>
        </p:nvSpPr>
        <p:spPr>
          <a:xfrm>
            <a:off x="2017038" y="4244816"/>
            <a:ext cx="10972800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Barlow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Compounding accuracy</a:t>
            </a:r>
            <a:endParaRPr b="0" i="0" sz="2050" u="none" cap="none" strike="noStrike"/>
          </a:p>
        </p:txBody>
      </p:sp>
      <p:sp>
        <p:nvSpPr>
          <p:cNvPr id="173" name="Google Shape;173;p20"/>
          <p:cNvSpPr/>
          <p:nvPr/>
        </p:nvSpPr>
        <p:spPr>
          <a:xfrm>
            <a:off x="2017038" y="4697492"/>
            <a:ext cx="11907441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Per-source evidence lets auto-commit widen only where it is proven, driving down the cost of each ingested record.</a:t>
            </a:r>
            <a:endParaRPr b="0" i="0" sz="1550" u="none" cap="none" strike="noStrike"/>
          </a:p>
        </p:txBody>
      </p:sp>
      <p:pic>
        <p:nvPicPr>
          <p:cNvPr descr="preencoded.png" id="174" name="Google Shape;17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5922" y="5253395"/>
            <a:ext cx="1008578" cy="1210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/>
          <p:nvPr/>
        </p:nvSpPr>
        <p:spPr>
          <a:xfrm>
            <a:off x="2017038" y="5455087"/>
            <a:ext cx="10972800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Barlow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Labelled evidence from daily work</a:t>
            </a:r>
            <a:endParaRPr b="0" i="0" sz="2050" u="none" cap="none" strike="noStrike"/>
          </a:p>
        </p:txBody>
      </p:sp>
      <p:sp>
        <p:nvSpPr>
          <p:cNvPr id="176" name="Google Shape;176;p20"/>
          <p:cNvSpPr/>
          <p:nvPr/>
        </p:nvSpPr>
        <p:spPr>
          <a:xfrm>
            <a:off x="2017038" y="5907762"/>
            <a:ext cx="11907441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Every reviewer accept, correction and rejection is stored as labelled data. It powers the evaluation with no separate labelling effort.</a:t>
            </a:r>
            <a:endParaRPr b="0" i="0" sz="1550" u="none" cap="none" strike="noStrike"/>
          </a:p>
        </p:txBody>
      </p:sp>
      <p:pic>
        <p:nvPicPr>
          <p:cNvPr descr="preencoded.png" id="177" name="Google Shape;17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922" y="6463665"/>
            <a:ext cx="1008578" cy="1210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/>
          <p:nvPr/>
        </p:nvSpPr>
        <p:spPr>
          <a:xfrm>
            <a:off x="2017038" y="6665357"/>
            <a:ext cx="10972800" cy="331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Barlow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A regulated system, not a chat prompt</a:t>
            </a:r>
            <a:endParaRPr b="0" i="0" sz="2050" u="none" cap="none" strike="noStrike"/>
          </a:p>
        </p:txBody>
      </p:sp>
      <p:sp>
        <p:nvSpPr>
          <p:cNvPr id="179" name="Google Shape;179;p20"/>
          <p:cNvSpPr/>
          <p:nvPr/>
        </p:nvSpPr>
        <p:spPr>
          <a:xfrm>
            <a:off x="2017038" y="7118033"/>
            <a:ext cx="11907441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Montserrat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Consent gating, per-source thresholds, confidence routing and an immutable audit trail: what general chat tools and EHR copilots do not provide at the edge.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758309" y="404199"/>
            <a:ext cx="118872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Trust Through Evaluation</a:t>
            </a:r>
            <a:endParaRPr b="0" i="0" sz="4450" u="none" cap="none" strike="noStrike"/>
          </a:p>
        </p:txBody>
      </p:sp>
      <p:pic>
        <p:nvPicPr>
          <p:cNvPr descr="preencoded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309" y="1550175"/>
            <a:ext cx="541615" cy="54161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758309" y="2308365"/>
            <a:ext cx="28506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Ground truth</a:t>
            </a:r>
            <a:endParaRPr b="0" i="0" sz="2200" u="none" cap="none" strike="noStrike"/>
          </a:p>
        </p:txBody>
      </p:sp>
      <p:sp>
        <p:nvSpPr>
          <p:cNvPr id="188" name="Google Shape;188;p21"/>
          <p:cNvSpPr/>
          <p:nvPr/>
        </p:nvSpPr>
        <p:spPr>
          <a:xfrm>
            <a:off x="758309" y="2794497"/>
            <a:ext cx="41547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Reviewers grade it as they work.</a:t>
            </a:r>
            <a:endParaRPr b="0" i="0" sz="1700" u="none" cap="none" strike="noStrike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50"/>
              <a:buFont typeface="Funnel Sans"/>
              <a:buChar char="•"/>
            </a:pPr>
            <a:r>
              <a:rPr b="0" lang="en-US" sz="1700">
                <a:solidFill>
                  <a:srgbClr val="3F3D3D"/>
                </a:solidFill>
                <a:latin typeface="Funnel Sans"/>
                <a:ea typeface="Funnel Sans"/>
                <a:cs typeface="Funnel Sans"/>
                <a:sym typeface="Funnel Sans"/>
              </a:rPr>
              <a:t>Each reviewed field is accepted, corrected or rejected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50"/>
              <a:buFont typeface="Funnel Sans"/>
              <a:buChar char="•"/>
            </a:pPr>
            <a:r>
              <a:rPr b="0" lang="en-US" sz="1700">
                <a:solidFill>
                  <a:srgbClr val="3F3D3D"/>
                </a:solidFill>
                <a:latin typeface="Funnel Sans"/>
                <a:ea typeface="Funnel Sans"/>
                <a:cs typeface="Funnel Sans"/>
                <a:sym typeface="Funnel Sans"/>
              </a:rPr>
              <a:t>The latest decision per field counts, and rejected records still count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50"/>
              <a:buFont typeface="Funnel Sans"/>
              <a:buChar char="•"/>
            </a:pPr>
            <a:r>
              <a:rPr b="0" lang="en-US" sz="1700">
                <a:solidFill>
                  <a:srgbClr val="3F3D3D"/>
                </a:solidFill>
                <a:latin typeface="Funnel Sans"/>
                <a:ea typeface="Funnel Sans"/>
                <a:cs typeface="Funnel Sans"/>
                <a:sym typeface="Funnel Sans"/>
              </a:rPr>
              <a:t>Planned: 150 to 200 clinician-labelled records as a held-out set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7798" y="1550175"/>
            <a:ext cx="541615" cy="54161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/>
          <p:nvPr/>
        </p:nvSpPr>
        <p:spPr>
          <a:xfrm>
            <a:off x="5237798" y="2308365"/>
            <a:ext cx="28506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What we measure</a:t>
            </a:r>
            <a:endParaRPr b="0" i="0" sz="2200" u="none" cap="none" strike="noStrike"/>
          </a:p>
        </p:txBody>
      </p:sp>
      <p:sp>
        <p:nvSpPr>
          <p:cNvPr id="191" name="Google Shape;191;p21"/>
          <p:cNvSpPr/>
          <p:nvPr/>
        </p:nvSpPr>
        <p:spPr>
          <a:xfrm>
            <a:off x="5237798" y="2794497"/>
            <a:ext cx="41547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Is it right, and can we tell?</a:t>
            </a:r>
            <a:endParaRPr b="0" i="0" sz="1700" u="none" cap="none" strike="noStrike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50"/>
              <a:buFont typeface="Funnel Sans"/>
              <a:buChar char="•"/>
            </a:pPr>
            <a:r>
              <a:rPr b="0" lang="en-US" sz="1700">
                <a:solidFill>
                  <a:srgbClr val="3F3D3D"/>
                </a:solidFill>
                <a:latin typeface="Funnel Sans"/>
                <a:ea typeface="Funnel Sans"/>
                <a:cs typeface="Funnel Sans"/>
                <a:sym typeface="Funnel Sans"/>
              </a:rPr>
              <a:t>Accuracy by field and by value type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50"/>
              <a:buFont typeface="Funnel Sans"/>
              <a:buChar char="•"/>
            </a:pPr>
            <a:r>
              <a:rPr b="0" lang="en-US" sz="1700">
                <a:solidFill>
                  <a:srgbClr val="3F3D3D"/>
                </a:solidFill>
                <a:latin typeface="Funnel Sans"/>
                <a:ea typeface="Funnel Sans"/>
                <a:cs typeface="Funnel Sans"/>
                <a:sym typeface="Funnel Sans"/>
              </a:rPr>
              <a:t>Calibration: does a 95% score mean 95% right?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50"/>
              <a:buFont typeface="Funnel Sans"/>
              <a:buChar char="•"/>
            </a:pPr>
            <a:r>
              <a:rPr b="0" lang="en-US" sz="1700">
                <a:solidFill>
                  <a:srgbClr val="3F3D3D"/>
                </a:solidFill>
                <a:latin typeface="Funnel Sans"/>
                <a:ea typeface="Funnel Sans"/>
                <a:cs typeface="Funnel Sans"/>
                <a:sym typeface="Funnel Sans"/>
              </a:rPr>
              <a:t>Safe threshold per resource type, and review behaviour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192" name="Google Shape;19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7405" y="1550175"/>
            <a:ext cx="541615" cy="54161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/>
          <p:nvPr/>
        </p:nvSpPr>
        <p:spPr>
          <a:xfrm>
            <a:off x="9717405" y="2308365"/>
            <a:ext cx="28506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The gate</a:t>
            </a:r>
            <a:endParaRPr b="0" i="0" sz="2200" u="none" cap="none" strike="noStrike"/>
          </a:p>
        </p:txBody>
      </p:sp>
      <p:sp>
        <p:nvSpPr>
          <p:cNvPr id="194" name="Google Shape;194;p21"/>
          <p:cNvSpPr/>
          <p:nvPr/>
        </p:nvSpPr>
        <p:spPr>
          <a:xfrm>
            <a:off x="9717405" y="2794497"/>
            <a:ext cx="41547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No pass, no auto-commit.</a:t>
            </a:r>
            <a:endParaRPr b="0" i="0" sz="1700" u="none" cap="none" strike="noStrike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50"/>
              <a:buFont typeface="Funnel Sans"/>
              <a:buChar char="•"/>
            </a:pPr>
            <a:r>
              <a:rPr b="0" lang="en-US" sz="1700">
                <a:solidFill>
                  <a:srgbClr val="3F3D3D"/>
                </a:solidFill>
                <a:latin typeface="Funnel Sans"/>
                <a:ea typeface="Funnel Sans"/>
                <a:cs typeface="Funnel Sans"/>
                <a:sym typeface="Funnel Sans"/>
              </a:rPr>
              <a:t>An admin runs the evaluation; a pass is labelled synthetic or real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50"/>
              <a:buFont typeface="Funnel Sans"/>
              <a:buChar char="•"/>
            </a:pPr>
            <a:r>
              <a:rPr b="0" lang="en-US" sz="1700">
                <a:solidFill>
                  <a:srgbClr val="3F3D3D"/>
                </a:solidFill>
                <a:latin typeface="Funnel Sans"/>
                <a:ea typeface="Funnel Sans"/>
                <a:cs typeface="Funnel Sans"/>
                <a:sym typeface="Funnel Sans"/>
              </a:rPr>
              <a:t>A pass resets if thresholds or the model change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8F8F"/>
              </a:buClr>
              <a:buSzPts val="1450"/>
              <a:buFont typeface="Funnel Sans"/>
              <a:buChar char="•"/>
            </a:pPr>
            <a:r>
              <a:rPr b="0" lang="en-US" sz="1700">
                <a:solidFill>
                  <a:srgbClr val="3F3D3D"/>
                </a:solidFill>
                <a:latin typeface="Funnel Sans"/>
                <a:ea typeface="Funnel Sans"/>
                <a:cs typeface="Funnel Sans"/>
                <a:sym typeface="Funnel Sans"/>
              </a:rPr>
              <a:t>A random sample of clean records still goes to a reviewer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t/>
            </a:r>
            <a:endParaRPr sz="17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/>
          <p:nvPr/>
        </p:nvSpPr>
        <p:spPr>
          <a:xfrm>
            <a:off x="680834" y="246774"/>
            <a:ext cx="10972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Roadmap and Next Steps</a:t>
            </a:r>
            <a:endParaRPr b="0" i="0" sz="4450" u="none" cap="none" strike="noStrike"/>
          </a:p>
        </p:txBody>
      </p:sp>
      <p:sp>
        <p:nvSpPr>
          <p:cNvPr id="201" name="Google Shape;201;p22"/>
          <p:cNvSpPr/>
          <p:nvPr/>
        </p:nvSpPr>
        <p:spPr>
          <a:xfrm>
            <a:off x="740664" y="6263640"/>
            <a:ext cx="13167360" cy="1051560"/>
          </a:xfrm>
          <a:prstGeom prst="roundRect">
            <a:avLst>
              <a:gd fmla="val 7638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960120" y="6464808"/>
            <a:ext cx="1271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Funnel Sa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Next steps: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scanned-document reading (OCR); licensed SNOMED CT, LOINC and ICD-10; ABDM consent sandbox; a clinician-labelled evaluation set; alerts and an automatic pause when accuracy drifts.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738934" y="1188720"/>
            <a:ext cx="28506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Barlow"/>
              <a:buNone/>
            </a:pPr>
            <a:r>
              <a:rPr b="1" lang="en-US" sz="2200">
                <a:solidFill>
                  <a:srgbClr val="272525"/>
                </a:solidFill>
                <a:latin typeface="Barlow"/>
                <a:ea typeface="Barlow"/>
                <a:cs typeface="Barlow"/>
                <a:sym typeface="Barlow"/>
              </a:rPr>
              <a:t>Roadmap</a:t>
            </a:r>
            <a:endParaRPr b="0" i="0" sz="2200" u="none" cap="none" strike="noStrike"/>
          </a:p>
        </p:txBody>
      </p:sp>
      <p:graphicFrame>
        <p:nvGraphicFramePr>
          <p:cNvPr id="204" name="Roadmap table"/>
          <p:cNvGraphicFramePr>
            <a:graphicFrameLocks noGrp="1"/>
          </p:cNvGraphicFramePr>
          <p:nvPr/>
        </p:nvGraphicFramePr>
        <p:xfrm>
          <a:off x="740664" y="1828800"/>
          <a:ext cx="1316735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7498079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Release</a:t>
                      </a:r>
                    </a:p>
                  </a:txBody>
                  <a:tcPr marL="109728" marR="109728" marT="54864" marB="54864" anchor="ctr">
                    <a:solidFill>
                      <a:srgbClr val="706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Scope</a:t>
                      </a:r>
                    </a:p>
                  </a:txBody>
                  <a:tcPr marL="109728" marR="109728" marT="54864" marB="54864" anchor="ctr">
                    <a:solidFill>
                      <a:srgbClr val="7068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ontserrat"/>
                        </a:rPr>
                        <a:t>Status</a:t>
                      </a:r>
                    </a:p>
                  </a:txBody>
                  <a:tcPr marL="109728" marR="109728" marT="54864" marB="54864" anchor="ctr">
                    <a:solidFill>
                      <a:srgbClr val="7068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72525"/>
                          </a:solidFill>
                          <a:latin typeface="Montserrat"/>
                        </a:rPr>
                        <a:t>MVP (weeks 1 to 4)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72525"/>
                          </a:solidFill>
                          <a:latin typeface="Montserrat"/>
                        </a:rPr>
                        <a:t>Discharge summaries end to end: ingest, consent gate, grounded extraction, FHIR mapping and validation, scoring, routing, review, commit with audit. Consent ledger stubbed.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72525"/>
                          </a:solidFill>
                          <a:latin typeface="Montserrat"/>
                        </a:rPr>
                        <a:t>Built; running as a synthetic-data pilot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72525"/>
                          </a:solidFill>
                          <a:latin typeface="Montserrat"/>
                        </a:rPr>
                        <a:t>MVP 1 (weeks 5 to 6)</a:t>
                      </a:r>
                    </a:p>
                  </a:txBody>
                  <a:tcPr marL="109728" marR="109728" marT="54864" marB="54864" anchor="ctr">
                    <a:solidFill>
                      <a:srgbClr val="F6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72525"/>
                          </a:solidFill>
                          <a:latin typeface="Montserrat"/>
                        </a:rPr>
                        <a:t>Lab reports as a second document type; hardened review queue; ABDM Consent Manager sandbox replaces the stub.</a:t>
                      </a:r>
                    </a:p>
                  </a:txBody>
                  <a:tcPr marL="109728" marR="109728" marT="54864" marB="54864" anchor="ctr">
                    <a:solidFill>
                      <a:srgbClr val="F6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72525"/>
                          </a:solidFill>
                          <a:latin typeface="Montserrat"/>
                        </a:rPr>
                        <a:t>Next</a:t>
                      </a:r>
                    </a:p>
                  </a:txBody>
                  <a:tcPr marL="109728" marR="109728" marT="54864" marB="54864" anchor="ctr">
                    <a:solidFill>
                      <a:srgbClr val="F6F5F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72525"/>
                          </a:solidFill>
                          <a:latin typeface="Montserrat"/>
                        </a:rPr>
                        <a:t>Launch (weeks 7 to 10)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72525"/>
                          </a:solidFill>
                          <a:latin typeface="Montserrat"/>
                        </a:rPr>
                        <a:t>Calibration loop and per-source dashboard; accuracy benchmark on a clinician-reviewed sample; go or no-go on the north-star metric.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72525"/>
                          </a:solidFill>
                          <a:latin typeface="Montserrat"/>
                        </a:rPr>
                        <a:t>Evaluation gate and first dashboard built; calibration loop and benchmark pending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72525"/>
                          </a:solidFill>
                          <a:latin typeface="Montserrat"/>
                        </a:rPr>
                        <a:t>Iteration (ongoing)</a:t>
                      </a:r>
                    </a:p>
                  </a:txBody>
                  <a:tcPr marL="109728" marR="109728" marT="54864" marB="54864" anchor="ctr">
                    <a:solidFill>
                      <a:srgbClr val="F6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72525"/>
                          </a:solidFill>
                          <a:latin typeface="Montserrat"/>
                        </a:rPr>
                        <a:t>HIPAA path, more document types, per-resource thresholds, regression evaluation for every new source.</a:t>
                      </a:r>
                    </a:p>
                  </a:txBody>
                  <a:tcPr marL="109728" marR="109728" marT="54864" marB="54864" anchor="ctr">
                    <a:solidFill>
                      <a:srgbClr val="F6F5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72525"/>
                          </a:solidFill>
                          <a:latin typeface="Montserrat"/>
                        </a:rPr>
                        <a:t>Planned</a:t>
                      </a:r>
                    </a:p>
                  </a:txBody>
                  <a:tcPr marL="109728" marR="109728" marT="54864" marB="54864" anchor="ctr">
                    <a:solidFill>
                      <a:srgbClr val="F6F5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0" name="Google Shape;21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70819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/>
          <p:nvPr/>
        </p:nvSpPr>
        <p:spPr>
          <a:xfrm>
            <a:off x="758309" y="3137302"/>
            <a:ext cx="57015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7068F4"/>
              </a:buClr>
              <a:buSzPts val="4450"/>
              <a:buFont typeface="Barlow"/>
              <a:buNone/>
            </a:pPr>
            <a:r>
              <a:rPr b="1" i="0" lang="en-US" sz="4450" u="none" cap="none" strike="noStrike">
                <a:solidFill>
                  <a:srgbClr val="7068F4"/>
                </a:solidFill>
                <a:latin typeface="Barlow"/>
                <a:ea typeface="Barlow"/>
                <a:cs typeface="Barlow"/>
                <a:sym typeface="Barlow"/>
              </a:rPr>
              <a:t>Thank You</a:t>
            </a:r>
            <a:endParaRPr b="0" i="0" sz="4450" u="none" cap="none" strike="noStrike"/>
          </a:p>
        </p:txBody>
      </p:sp>
      <p:sp>
        <p:nvSpPr>
          <p:cNvPr id="218" name="Google Shape;218;p23"/>
          <p:cNvSpPr/>
          <p:nvPr/>
        </p:nvSpPr>
        <p:spPr>
          <a:xfrm>
            <a:off x="758309" y="4480560"/>
            <a:ext cx="1280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Montserrat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Questions and discussion. The pilot runs on synthetic data; real patient data stays out of scope until the next steps are complete.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78D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